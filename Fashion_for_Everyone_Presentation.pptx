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0" cy="4572000"/>
          </a:xfrm>
          <a:prstGeom prst="ellipse">
            <a:avLst/>
          </a:prstGeom>
          <a:solidFill>
            <a:srgbClr val="1A1D36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91440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FASHION-TECH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914400" y="1417320"/>
            <a:ext cx="5669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Fashion for Everyone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Fashion Discovery &amp; Shopping Platform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56616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multi-tenant ecosystem bridging Customers, Independent Designers, and Retailers with AI-assisted styling, community color voting, live inventory synchronization, and omnichannel order fulfillment.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4846320"/>
            <a:ext cx="5029200" cy="1280160"/>
          </a:xfrm>
          <a:prstGeom prst="roundRect">
            <a:avLst>
              <a:gd name="adj" fmla="val 10714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846320"/>
            <a:ext cx="502920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937760"/>
            <a:ext cx="4663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ARCHITECTURE STACK: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Full-Stack Web: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19, TypeScript, Vite 8, Tailwind CSS v4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Mobile Experience: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0.86, Expo 57, Android APK Configuration
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Backend &amp; Database: </a:t>
            </a:r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5, Prisma ORM 5.22, PostgreSQL, Socket.io Real-Time Engine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914400"/>
            <a:ext cx="4937760" cy="5212080"/>
          </a:xfrm>
          <a:prstGeom prst="roundRect">
            <a:avLst>
              <a:gd name="adj" fmla="val 2778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09360" y="914400"/>
            <a:ext cx="493776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051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APPLICATION DASHBOARD</a:t>
            </a:r>
            <a:endParaRPr lang="en-US" sz="1000" dirty="0"/>
          </a:p>
        </p:txBody>
      </p:sp>
      <p:pic>
        <p:nvPicPr>
          <p:cNvPr id="14" name="Image 0" descr="C:\Users\prani\OneDrive\Desktop\fashion-for-everyone\presentation_assets\screenshots\01_customer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13716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1671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Modern Fashion Discovery &amp; Fragmentation Dilemma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systemic friction experienced by fashion consumers, independent creators, and fashion merchants today.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057400" cy="4297680"/>
          </a:xfrm>
          <a:prstGeom prst="roundRect">
            <a:avLst>
              <a:gd name="adj" fmla="val 666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205740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10312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Overwhelm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1691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face millions of unsorted items with generic search engines that ignore personal body shape, skin tone, and individual proportions.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07792" y="1828800"/>
            <a:ext cx="2057400" cy="4297680"/>
          </a:xfrm>
          <a:prstGeom prst="roundRect">
            <a:avLst>
              <a:gd name="adj" fmla="val 666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07792" y="1828800"/>
            <a:ext cx="205740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0672" y="210312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90672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90672" y="26060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Styling Indecision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090672" y="3474720"/>
            <a:ext cx="1691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struggle with daily outfit coordination, color matching, and occasion-specific etiquette without personalized stylist guidance.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84064" y="1828800"/>
            <a:ext cx="2057400" cy="4297680"/>
          </a:xfrm>
          <a:prstGeom prst="roundRect">
            <a:avLst>
              <a:gd name="adj" fmla="val 666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84064" y="1828800"/>
            <a:ext cx="205740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266944" y="210312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66944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66944" y="26060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Stylist Exclusivity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266944" y="3474720"/>
            <a:ext cx="1691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styling has traditionally been an expensive luxury service inaccessible to everyday consumers seeking confidence in their appearance.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260336" y="1828800"/>
            <a:ext cx="2057400" cy="4297680"/>
          </a:xfrm>
          <a:prstGeom prst="roundRect">
            <a:avLst>
              <a:gd name="adj" fmla="val 666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0336" y="1828800"/>
            <a:ext cx="2057400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43216" y="210312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43216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43216" y="26060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Color Coordination Gap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43216" y="3474720"/>
            <a:ext cx="1691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community feedback on color harmonies, leading to uncertainty when combining seasonal palettes, undertones, and silhouettes.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436608" y="1828800"/>
            <a:ext cx="2057400" cy="4297680"/>
          </a:xfrm>
          <a:prstGeom prst="roundRect">
            <a:avLst>
              <a:gd name="adj" fmla="val 666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436608" y="1828800"/>
            <a:ext cx="2057400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19488" y="2103120"/>
            <a:ext cx="548640" cy="320040"/>
          </a:xfrm>
          <a:prstGeom prst="roundRect">
            <a:avLst>
              <a:gd name="adj" fmla="val 28571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619488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19488" y="260604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Siloed Ecosystem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9619488" y="3474720"/>
            <a:ext cx="16916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Disconnection between Customers (who want curation), Designers (who need exposure), and Retailers (who manage physical store inventory).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66420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664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Unified Ecosystem: Customers, Designers &amp; Retailers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interconnected digital platform synchronizing discovery, community curation, and transactional commerce.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0725912" cy="1737360"/>
          </a:xfrm>
          <a:prstGeom prst="roundRect">
            <a:avLst>
              <a:gd name="adj" fmla="val 78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UNIFIED FASHION TRIAD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40280"/>
            <a:ext cx="3108960" cy="1005840"/>
          </a:xfrm>
          <a:prstGeom prst="roundRect">
            <a:avLst>
              <a:gd name="adj" fmla="val 13636"/>
            </a:avLst>
          </a:prstGeom>
          <a:solidFill>
            <a:srgbClr val="18233C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6060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AI styling, wishlist, omnichannel cart, store pickup &amp; order tracking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9120" y="2240280"/>
            <a:ext cx="3108960" cy="1005840"/>
          </a:xfrm>
          <a:prstGeom prst="roundRect">
            <a:avLst>
              <a:gd name="adj" fmla="val 13636"/>
            </a:avLst>
          </a:prstGeom>
          <a:solidFill>
            <a:srgbClr val="18233C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6060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showcase, design creation, community voting &amp; merit leaderboard rankings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0" y="2240280"/>
            <a:ext cx="3108960" cy="1005840"/>
          </a:xfrm>
          <a:prstGeom prst="roundRect">
            <a:avLst>
              <a:gd name="adj" fmla="val 13636"/>
            </a:avLst>
          </a:prstGeom>
          <a:solidFill>
            <a:srgbClr val="18233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2331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260604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CRUD, multi-store stock locator, real-time orders &amp; fulfillment status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6908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</a:rPr>
              <a:t>⟷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452360" y="2468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59E0B"/>
                </a:solidFill>
              </a:rPr>
              <a:t>⟷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3749040"/>
            <a:ext cx="10725912" cy="2377440"/>
          </a:xfrm>
          <a:prstGeom prst="roundRect">
            <a:avLst>
              <a:gd name="adj" fmla="val 5769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74904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931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PLATFORM VALUE LIFECYCLE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1556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Fashion Discovery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1556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catalog, curated trends &amp; social feed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514600" y="4937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4320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5292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AI Styling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85292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harmony, body shape &amp; color advice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251960" y="4937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48056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9028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Product Match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9028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retailer SKU discovery &amp; store locator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89320" y="4937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2764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Wishlist / Cart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2764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 favorites &amp; persistent bag storage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726680" y="4937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95528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06500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Fast Checkout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06500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intent creation &amp; address confirmation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464040" y="4937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692640" y="4389120"/>
            <a:ext cx="1554480" cy="1463040"/>
          </a:xfrm>
          <a:prstGeom prst="roundRect">
            <a:avLst>
              <a:gd name="adj" fmla="val 9375"/>
            </a:avLst>
          </a:prstGeom>
          <a:solidFill>
            <a:srgbClr val="18233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802368" y="4526280"/>
            <a:ext cx="13350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Orders &amp; Pickup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802368" y="4983480"/>
            <a:ext cx="133502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tracking from Shipped to Delivered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1671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CAPABILITIES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Implemented Features in Current Codebase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listed below is fully realized with active backend API endpoints, Prisma database models, and responsive UI components.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993392"/>
            <a:ext cx="932688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993392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68680" y="226771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Discovery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257860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Filterable catalog with silhouettes, price, occasion &amp; live stock badges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456432" y="182880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56432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93592" y="1993392"/>
            <a:ext cx="101498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1993392"/>
            <a:ext cx="10149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593592" y="226771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Search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93592" y="257860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full-text search across titles, brands, occasions &amp; garment attributes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81344" y="182880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81344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18504" y="1993392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18504" y="199339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318504" y="226771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Suggestions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18504" y="257860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keyword autocomplete and occasion suggestions (Ctrl+K keyboard shortcut)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906256" y="182880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06256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043416" y="1993392"/>
            <a:ext cx="101498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43416" y="1993392"/>
            <a:ext cx="10149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043416" y="226771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Stylist Chat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43416" y="257860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assistant analyzing skin undertones, body shapes &amp; color harmony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333756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333756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8680" y="3502152"/>
            <a:ext cx="101498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3502152"/>
            <a:ext cx="10149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68680" y="377647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Color Voting Arena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" y="408736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community palette voting with real-time socket updates and star rating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56432" y="333756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56432" y="333756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93592" y="3502152"/>
            <a:ext cx="101498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93592" y="3502152"/>
            <a:ext cx="10149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3593592" y="377647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 Showcase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3593592" y="408736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designer portfolios, design publishing modal, and merit leaderboards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181344" y="333756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81344" y="333756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318504" y="3502152"/>
            <a:ext cx="932688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18504" y="3502152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318504" y="377647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Wishlist System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318504" y="408736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item bookmarking, saved curated favorites, and stock alerts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8906256" y="333756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06256" y="333756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43416" y="3502152"/>
            <a:ext cx="932688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43416" y="3502152"/>
            <a:ext cx="9326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9043416" y="377647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Shopping Cart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043416" y="408736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bag management with size/color selection and tax calculation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31520" y="484632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1520" y="484632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68680" y="5010912"/>
            <a:ext cx="1179576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68680" y="5010912"/>
            <a:ext cx="1179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68680" y="528523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Checkout Pipeline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868680" y="559612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Multi-field shipping form, payment gateway intent creation, and instant verification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56432" y="484632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456432" y="484632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593592" y="5010912"/>
            <a:ext cx="109728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593592" y="5010912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3593592" y="528523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Management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3593592" y="559612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 tracking modal and retailer status transitions (Pending to Delivered)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81344" y="484632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181344" y="484632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18504" y="5010912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18504" y="501091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318504" y="528523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Profile &amp; Settings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6318504" y="559612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attributes (skin tone, measurements), occasion vibes, and security update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906256" y="4846320"/>
            <a:ext cx="2578608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906256" y="484632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043416" y="5010912"/>
            <a:ext cx="1179576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043416" y="5010912"/>
            <a:ext cx="11795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9043416" y="5285232"/>
            <a:ext cx="23042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Stock Locator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9043416" y="5596128"/>
            <a:ext cx="23042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brick-and-mortar physical store inventory check with 48h pickup reservation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267712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267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USER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Customer Journey &amp; Discovery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customer progression through authentication, personalized discovery branches, cart, and order fulfillment.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0725912" cy="2468880"/>
          </a:xfrm>
          <a:prstGeom prst="roundRect">
            <a:avLst>
              <a:gd name="adj" fmla="val 5556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PURCHASE FLOW (LINEAR PIPELINE)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 Returning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21408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04288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14016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14016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807208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/ Login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/ Token Sync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19856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02736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2464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05656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Hub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18304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01184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10912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10912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04104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/ Search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Auto-suggest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99632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02552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Size/Color/Fit Score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498080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7808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07808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or Wishlist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Storage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613648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796528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06256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06256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299448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Checkout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&amp; Payment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912096" y="297180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0094976" y="2377440"/>
            <a:ext cx="1143000" cy="1463040"/>
          </a:xfrm>
          <a:prstGeom prst="roundRect">
            <a:avLst>
              <a:gd name="adj" fmla="val 112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04704" y="294436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04704" y="29443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597896" y="2432304"/>
            <a:ext cx="548640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Progression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31520" y="4389120"/>
            <a:ext cx="10725912" cy="1920240"/>
          </a:xfrm>
          <a:prstGeom prst="roundRect">
            <a:avLst>
              <a:gd name="adj" fmla="val 7143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1520" y="438912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584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DISCOVERY &amp; ENGAGEMENT PATHWAYS (ACCESSIBLE FROM HOME)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" y="4937760"/>
            <a:ext cx="2468880" cy="1097280"/>
          </a:xfrm>
          <a:prstGeom prst="roundRect">
            <a:avLst>
              <a:gd name="adj" fmla="val 12500"/>
            </a:avLst>
          </a:prstGeom>
          <a:solidFill>
            <a:srgbClr val="18233C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43000" y="5029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Stylist Chat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143000" y="5303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styling queries, body shape analysis &amp; curated outfits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657600" y="4937760"/>
            <a:ext cx="2468880" cy="1097280"/>
          </a:xfrm>
          <a:prstGeom prst="roundRect">
            <a:avLst>
              <a:gd name="adj" fmla="val 12500"/>
            </a:avLst>
          </a:prstGeom>
          <a:solidFill>
            <a:srgbClr val="18233C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94760" y="5029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Voting Arena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794760" y="5303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Upvote/downvote palettes with direct transfer to AI Stylist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9360" y="4937760"/>
            <a:ext cx="2468880" cy="1097280"/>
          </a:xfrm>
          <a:prstGeom prst="roundRect">
            <a:avLst>
              <a:gd name="adj" fmla="val 12500"/>
            </a:avLst>
          </a:prstGeom>
          <a:solidFill>
            <a:srgbClr val="18233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46520" y="5029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Showcase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446520" y="5303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creator collections, rate garments &amp; follow designer profiles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961120" y="4937760"/>
            <a:ext cx="2468880" cy="1097280"/>
          </a:xfrm>
          <a:prstGeom prst="roundRect">
            <a:avLst>
              <a:gd name="adj" fmla="val 12500"/>
            </a:avLst>
          </a:prstGeom>
          <a:solidFill>
            <a:srgbClr val="18233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098280" y="50292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Locator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098280" y="5303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nearby brick-and-mortar stores with 48-hour pickup reservations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368296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368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Features &amp; Interactive Interfaces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fashion interfaces designed for intuitive exploration, instant feedback, and seamless mobile-responsive shopping.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21208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521208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CUSTOMER CAPABILITIES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224028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Conversational Stylist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246888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assistant calculating color harmony scores &amp; recommending matched retail SKUs.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2944368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2898648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Color Voting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3127248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5-star community voting arena with real-time socket events and trending filters.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5840" y="3602736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4440" y="3557016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Search &amp; Suggestions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34440" y="3785616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Keyboard-accelerated (Cmd/Ctrl+K) instant search across styles, brands, and categories.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4261104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34440" y="4215384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Wishlist &amp; Bag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34440" y="4443984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customer favorites, size and color selectors, and cart summary calculations.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05840" y="4919472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34440" y="487375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 Modal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34440" y="5102352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order lifecycle visualizer detailing shipping status, tracking numbers, and delivery dates.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577840"/>
            <a:ext cx="146304" cy="14630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" y="5532120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Profile &amp; Vibe Preferences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34440" y="576072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Customizable undertone, hair color, body silhouette, and measurements stored in PostgreSQL.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737360"/>
            <a:ext cx="5239512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17920" y="1737360"/>
            <a:ext cx="52395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APPLICATION SCREENSHOTS</a:t>
            </a:r>
            <a:endParaRPr lang="en-US" sz="1000" dirty="0"/>
          </a:p>
        </p:txBody>
      </p:sp>
      <p:pic>
        <p:nvPicPr>
          <p:cNvPr id="30" name="Image 0" descr="C:\Users\prani\OneDrive\Desktop\fashion-for-everyone\presentation_assets\screenshots\01_customer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92240" y="2240280"/>
            <a:ext cx="4663440" cy="1828800"/>
          </a:xfrm>
          <a:prstGeom prst="rect">
            <a:avLst/>
          </a:prstGeom>
        </p:spPr>
      </p:pic>
      <p:pic>
        <p:nvPicPr>
          <p:cNvPr id="31" name="Image 1" descr="C:\Users\prani\OneDrive\Desktop\fashion-for-everyone\presentation_assets\screenshots\02_ai_stylist_draw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4251960"/>
            <a:ext cx="46634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267712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267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USER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 Workflow &amp; Showcase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flow for independent fashion creators: from role authentication to design creation, publication, and community rating engagement.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496312" cy="438912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1168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868680" y="2331720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292608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" y="3127248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417320" y="298094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Entry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access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2516" y="3639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55F7"/>
                </a:solidFill>
              </a:rPr>
              <a:t>↓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4400" y="393192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24128" y="4133088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1330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417320" y="398678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Switch / Login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identity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42516" y="46451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55F7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493776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5138928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4128" y="5138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17320" y="499262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Dashboard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workspace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8211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➔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3474720" y="1828800"/>
            <a:ext cx="2496312" cy="438912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47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11880" y="201168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0116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11880" y="2331720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Creation &amp; Metadata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0" y="292608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67328" y="312724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67328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160520" y="298094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Design Modal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Initiate creation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85716" y="3639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0" y="393192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67328" y="41330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67328" y="41330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160520" y="398678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Information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occasion, price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85716" y="46451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↓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0" y="493776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67328" y="51389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67328" y="5138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160520" y="499262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&amp; Image URL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hex &amp; CDN photo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92531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➔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6217920" y="1828800"/>
            <a:ext cx="2496312" cy="438912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179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55080" y="201168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55080" y="20116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6355080" y="2331720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Catalog Publishing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400800" y="292608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10528" y="312724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10528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903720" y="298094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Attributes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schema validation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7328916" y="3639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3F5E"/>
                </a:solidFill>
              </a:rPr>
              <a:t>↓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400800" y="393192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10528" y="413308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10528" y="41330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903720" y="398678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Design API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/api/designs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328916" y="46451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43F5E"/>
                </a:solidFill>
              </a:rPr>
              <a:t>↓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400800" y="493776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0528" y="5138928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10528" y="5138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03720" y="499262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Showcase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public gallery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8668512" y="38404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59E0B"/>
                </a:solidFill>
              </a:rPr>
              <a:t>➔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8961120" y="1828800"/>
            <a:ext cx="2496312" cy="438912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9611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98280" y="2011680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098280" y="201168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098280" y="2331720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Community Engagement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144000" y="292608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253728" y="312724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53728" y="3127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9646920" y="298094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Showcase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feed display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072116" y="3639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↓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9144000" y="393192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53728" y="41330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253728" y="41330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9646920" y="398678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Star Voting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star user ratings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10072116" y="46451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0B981"/>
                </a:solidFill>
              </a:rPr>
              <a:t>↓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144000" y="4937760"/>
            <a:ext cx="2130552" cy="731520"/>
          </a:xfrm>
          <a:prstGeom prst="roundRect">
            <a:avLst>
              <a:gd name="adj" fmla="val 17500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53728" y="513892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253728" y="51389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9646920" y="4992624"/>
            <a:ext cx="15361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Leaderboard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rank updates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STUDIO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 Showcase, Creation &amp; Rating Tools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Empowering independent fashion talent with digital portfolio management, studio publishing modals, and merit-based voting.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66928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566928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DESIGNER SHOWCASE &amp; LEADERBOARD</a:t>
            </a:r>
            <a:endParaRPr lang="en-US" sz="1000" dirty="0"/>
          </a:p>
        </p:txBody>
      </p:sp>
      <p:pic>
        <p:nvPicPr>
          <p:cNvPr id="9" name="Image 0" descr="C:\Users\prani\OneDrive\Desktop\fashion-for-everyone\presentation_assets\screenshots\04_designer_show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2240280"/>
            <a:ext cx="5120640" cy="38404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675120" y="1737360"/>
            <a:ext cx="4782312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675120" y="1737360"/>
            <a:ext cx="47823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0" y="1920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TOOLS &amp; SYSTEM INTEGRATIONS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949440" y="22860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26948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Showcase Portfolio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69480" y="24688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Showcase grid highlighting creator handle, bio, verification badges, and average rating.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0" y="2944368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69480" y="28986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Upload Modal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269480" y="312724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form collecting title, collection season, price, occasion, and garment photo URL.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949440" y="36027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269480" y="355701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Palette Definition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269480" y="378561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curated color hex codes associated with each garment silhouette.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949440" y="42611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269480" y="421538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Star Voting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269480" y="444398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rating algorithm updating live `votesCount` and composite `rating`.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949440" y="49194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269480" y="487375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Following System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69480" y="51023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follow/unfollow capability with dynamic follower counter synchronization.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949440" y="55778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69480" y="5532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Merit-Based Leaderboard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269480" y="57607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rated designs automatically boosted on community merit boards.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267712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267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USER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Retailer Operations &amp; Inventory Lifecycle 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operational workflow for store partners: stock management, catalog synchronization, and multi-stage order fulfillment.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0725912" cy="2194560"/>
          </a:xfrm>
          <a:prstGeom prst="roundRect">
            <a:avLst>
              <a:gd name="adj" fmla="val 625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WORKSPACE EXECUTION PIPELINE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Entry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portal login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304288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87168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96896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96896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90088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Dashboard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metrics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85616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968496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78224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78224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71416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&amp; edit SKUs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66944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49824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9552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59552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52744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Adjustment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counter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48272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931152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40880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40880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434072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Queue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line items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412480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22208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22208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915400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shipment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710928" y="2907792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43F5E"/>
                </a:solidFill>
              </a:rPr>
              <a:t>➔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893808" y="2377440"/>
            <a:ext cx="1325880" cy="1325880"/>
          </a:xfrm>
          <a:prstGeom prst="roundRect">
            <a:avLst>
              <a:gd name="adj" fmla="val 9655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03536" y="287578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03536" y="2875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396728" y="2432304"/>
            <a:ext cx="731520" cy="12161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Settings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alert thresholds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31520" y="4114800"/>
            <a:ext cx="10725912" cy="2194560"/>
          </a:xfrm>
          <a:prstGeom prst="roundRect">
            <a:avLst>
              <a:gd name="adj" fmla="val 625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1520" y="411480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5840" y="4297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LIFECYCLE STATE MACHINE (VERIFIED IN CODEBASE)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97280" y="4754880"/>
            <a:ext cx="2286000" cy="1280160"/>
          </a:xfrm>
          <a:prstGeom prst="roundRect">
            <a:avLst>
              <a:gd name="adj" fmla="val 10714"/>
            </a:avLst>
          </a:prstGeom>
          <a:solidFill>
            <a:srgbClr val="18233C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234440" y="489204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34440" y="4892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234440" y="5257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received &amp; payment confirmed via intent gateway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383280" y="5257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➔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749040" y="4754880"/>
            <a:ext cx="2286000" cy="1280160"/>
          </a:xfrm>
          <a:prstGeom prst="roundRect">
            <a:avLst>
              <a:gd name="adj" fmla="val 10714"/>
            </a:avLst>
          </a:prstGeom>
          <a:solidFill>
            <a:srgbClr val="18233C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86200" y="489204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886200" y="4892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886200" y="5257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picking, garment packaging &amp; inventory reserve check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6035040" y="5257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➔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6400800" y="4754880"/>
            <a:ext cx="2286000" cy="1280160"/>
          </a:xfrm>
          <a:prstGeom prst="roundRect">
            <a:avLst>
              <a:gd name="adj" fmla="val 10714"/>
            </a:avLst>
          </a:prstGeom>
          <a:solidFill>
            <a:srgbClr val="18233C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37960" y="489204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37960" y="4892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37960" y="5257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Courier dispatch with generated tracking number (TRK-...)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8686800" y="5257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0B981"/>
                </a:solidFill>
              </a:rPr>
              <a:t>➔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9052560" y="4754880"/>
            <a:ext cx="2286000" cy="1280160"/>
          </a:xfrm>
          <a:prstGeom prst="roundRect">
            <a:avLst>
              <a:gd name="adj" fmla="val 10714"/>
            </a:avLst>
          </a:prstGeom>
          <a:solidFill>
            <a:srgbClr val="18233C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89720" y="489204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89720" y="489204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189720" y="525780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delivery to customer address or store pickup point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267712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267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WORKSPACE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Retailer Features &amp; Store Operations Console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retail management tools built into the application: inventory tracking, stock adjustments, and order progression.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66928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566928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RETAILER DASHBOARD &amp; ORDERS VIEW</a:t>
            </a:r>
            <a:endParaRPr lang="en-US" sz="1000" dirty="0"/>
          </a:p>
        </p:txBody>
      </p:sp>
      <p:pic>
        <p:nvPicPr>
          <p:cNvPr id="9" name="Image 0" descr="C:\Users\prani\OneDrive\Desktop\fashion-for-everyone\presentation_assets\screenshots\06_retailer_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2240280"/>
            <a:ext cx="5120640" cy="1828800"/>
          </a:xfrm>
          <a:prstGeom prst="rect">
            <a:avLst/>
          </a:prstGeom>
        </p:spPr>
      </p:pic>
      <p:pic>
        <p:nvPicPr>
          <p:cNvPr id="10" name="Image 1" descr="C:\Users\prani\OneDrive\Desktop\fashion-for-everyone\presentation_assets\screenshots\07_retailer_order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05840" y="4251960"/>
            <a:ext cx="5120640" cy="18288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75120" y="1737360"/>
            <a:ext cx="4782312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675120" y="1737360"/>
            <a:ext cx="47823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949440" y="1920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RETAILER CAPABILITIES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49440" y="228600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26948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Dashboard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269480" y="24688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metrics tracking gross sales, active listings, pending fulfillments, and average order value.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949440" y="2944368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269480" y="289864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Management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7269480" y="312724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new garments with image upload, brand, price, sizes, silhouette, and occasion.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949440" y="3602736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269480" y="355701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&amp; Stock Counters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7269480" y="378561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stock quantity adjustment with automatic "Low Stock" and "Out of Stock" status triggers.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6949440" y="4261104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269480" y="421538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 Lifecycle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269480" y="444398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customer orders from Pending to Processing, Shipped, or Delivered with tracking.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6949440" y="49194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69480" y="487375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Customer CRM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7269480" y="510235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directory recording lifetime orders count, total spend, and recent order history.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6949440" y="5577840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7269480" y="55321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Settings &amp; Alerts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7269480" y="57607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tax ID, manager contact, low stock thresholds, and email/SMS notification toggles.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96596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965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USER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Executive Flow &amp; Platform Governance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administrative architecture: JWT staff authentication, executive operations dashboard, and multi-tenant approval workflows.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0725912" cy="1828800"/>
          </a:xfrm>
          <a:prstGeom prst="roundRect">
            <a:avLst>
              <a:gd name="adj" fmla="val 75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AUTHENTICATION &amp; EXECUTIVE ACCESS PIPELINE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18288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340864"/>
            <a:ext cx="12344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Staff Access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 URL or header toggle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16352" y="267004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08960" y="2286000"/>
            <a:ext cx="18288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1868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1868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11880" y="2340864"/>
            <a:ext cx="12344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 Page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/api/admin/auth/login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19472" y="267004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12080" y="2286000"/>
            <a:ext cx="18288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2180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2180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715000" y="2340864"/>
            <a:ext cx="12344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 Issuance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Bearer token generation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22592" y="267004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2286000"/>
            <a:ext cx="18288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2492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2492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18120" y="2340864"/>
            <a:ext cx="12344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AdminGuard Validation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/api/admin/auth/me check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125712" y="2670048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59E0B"/>
                </a:solidFill>
              </a:rPr>
              <a:t>➔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18320" y="2286000"/>
            <a:ext cx="18288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52804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2804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921240" y="2340864"/>
            <a:ext cx="12344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PostgreSQL KPIs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3749040"/>
            <a:ext cx="10725912" cy="2560320"/>
          </a:xfrm>
          <a:prstGeom prst="roundRect">
            <a:avLst>
              <a:gd name="adj" fmla="val 535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374904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3931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PLATFORM MANAGEMENT MODULES (CONFIRMED IN ADMIN ROUTES)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" y="4343400"/>
            <a:ext cx="2468880" cy="1737360"/>
          </a:xfrm>
          <a:prstGeom prst="roundRect">
            <a:avLst>
              <a:gd name="adj" fmla="val 7895"/>
            </a:avLst>
          </a:prstGeom>
          <a:solidFill>
            <a:srgbClr val="18233C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43000" y="4480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143000" y="4754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/api/admin/users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43000" y="5029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customer profiles, toggle account status (Active / Suspended), and review requested role promotions.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657600" y="4343400"/>
            <a:ext cx="2468880" cy="1737360"/>
          </a:xfrm>
          <a:prstGeom prst="roundRect">
            <a:avLst>
              <a:gd name="adj" fmla="val 7895"/>
            </a:avLst>
          </a:prstGeom>
          <a:solidFill>
            <a:srgbClr val="18233C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794760" y="4480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Governance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94760" y="4754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/api/admin/designers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4760" y="5029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submitted designs, verify creator credentials, grant verified badges, or reject violating uploads.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309360" y="4343400"/>
            <a:ext cx="2468880" cy="1737360"/>
          </a:xfrm>
          <a:prstGeom prst="roundRect">
            <a:avLst>
              <a:gd name="adj" fmla="val 7895"/>
            </a:avLst>
          </a:prstGeom>
          <a:solidFill>
            <a:srgbClr val="18233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46520" y="4480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Governance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446520" y="4754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/api/admin/retailers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446520" y="5029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merchant onboarding applications, inspect store tax IDs, approve boutique listings, or issue rejections.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961120" y="4343400"/>
            <a:ext cx="2468880" cy="1737360"/>
          </a:xfrm>
          <a:prstGeom prst="roundRect">
            <a:avLst>
              <a:gd name="adj" fmla="val 7895"/>
            </a:avLst>
          </a:prstGeom>
          <a:solidFill>
            <a:srgbClr val="18233C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098280" y="4480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Catalog Audit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098280" y="4754880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DE6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/api/admin/orders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098280" y="502920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Cross-tenant transaction monitoring, global order status inspection, revenue verification, and catalog oversight.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267712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267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ROLES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Platform, Four Distinct User Roles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 of concerns: tailored permissions, specialized dashboards, and custom user journeys for every stakeholder.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496312" cy="457200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20116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0116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SHOPPER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68680" y="233172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2907792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83464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Conversational Stylist consultation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3438144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33649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shape &amp; color harmony recommendations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14400" y="3968496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78992" y="389534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color voting in the arena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4400" y="4498848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4425696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Multi-product search &amp; stock locator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4400" y="5029200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4956048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Wishlist &amp; Shopping Cart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14400" y="5559552"/>
            <a:ext cx="91440" cy="91440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548640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checkout &amp; order tracking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474720" y="1828800"/>
            <a:ext cx="2496312" cy="457200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47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20116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11880" y="20116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CREATOR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11880" y="233172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57600" y="2907792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22192" y="283464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Showcase &amp; portfolio profile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657600" y="3438144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22192" y="33649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upload with palette hex definitions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657600" y="3968496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22192" y="389534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management &amp; categorization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0" y="4498848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22192" y="4425696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rating feedback &amp; star voting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657600" y="5029200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22192" y="4956048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follower growth tracking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0" y="5559552"/>
            <a:ext cx="91440" cy="91440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22192" y="548640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Merit leaderboard top ranking visibility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17920" y="1828800"/>
            <a:ext cx="2496312" cy="457200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2179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55080" y="20116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55080" y="20116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&amp; BRAND PARTNER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55080" y="233172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RETAILER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400800" y="290779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565392" y="283464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store performance metrics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00800" y="3438144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65392" y="33649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 creation &amp; SKU updates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400800" y="3968496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65392" y="389534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inventory &amp; stock adjustments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400800" y="449884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65392" y="4425696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order lifecycle fulfillment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400800" y="5029200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65392" y="4956048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 customer CRM history tracking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00800" y="5559552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65392" y="548640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alert settings &amp; pickup coordination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8961120" y="1828800"/>
            <a:ext cx="2496312" cy="4572000"/>
          </a:xfrm>
          <a:prstGeom prst="roundRect">
            <a:avLst>
              <a:gd name="adj" fmla="val 5495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61120" y="1828800"/>
            <a:ext cx="24963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98280" y="201168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98280" y="20116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GOVERNANCE STAFF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9098280" y="2331720"/>
            <a:ext cx="2221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44000" y="290779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08592" y="283464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JWT-protected executive dashboard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9144000" y="3438144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308592" y="3364992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aggregated KPIs in PostgreSQL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9144000" y="3968496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308592" y="3895344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account status &amp; role approvals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9144000" y="449884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08592" y="4425696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verification &amp; design approvals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144000" y="5029200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08592" y="4956048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onboarding &amp; store compliance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9144000" y="5559552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308592" y="5486400"/>
            <a:ext cx="1993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order audit &amp; system health monitoring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46888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STYLIST USER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Conversational AI Stylist &amp; Recommendation Pipeline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fashion advisory workflow: natural language fashion requests processed through color harmony rules and silhouette matching.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12648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612648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STYLING DECISION PIPELINE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40280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313432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3134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295144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Opens AI Stylist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button or header nav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49040" y="267919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2807208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28803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08760" y="286207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Fashion Request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"Formal autumn dinner outfit under $400"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749040" y="324612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" y="3374136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447288"/>
            <a:ext cx="329184" cy="329184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5568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08760" y="3429000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&amp; Budget Filters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Casual, Formal, Party constraints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49040" y="381304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3941064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5568" y="4014216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40142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08760" y="3995928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 Processing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harmony score + body shape rules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49040" y="4379976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" y="4507992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5568" y="4581144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45811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508760" y="4562856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Recommendations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palette &amp; styling rationale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49469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05840" y="5074920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15568" y="5148072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15568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508760" y="5129784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Matched Retail Products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catalog items matching the palette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551383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" y="5641848"/>
            <a:ext cx="557784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5568" y="5715000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15568" y="5715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08760" y="5696712"/>
            <a:ext cx="4983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Wishlist / Cart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one-click conversion to purchase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132320" y="1737360"/>
            <a:ext cx="4325112" cy="4572000"/>
          </a:xfrm>
          <a:prstGeom prst="roundRect">
            <a:avLst>
              <a:gd name="adj" fmla="val 3171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132320" y="1737360"/>
            <a:ext cx="43251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0" y="19202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STYLIST INTERFACE</a:t>
            </a:r>
            <a:endParaRPr lang="en-US" sz="1000" dirty="0"/>
          </a:p>
        </p:txBody>
      </p:sp>
      <p:pic>
        <p:nvPicPr>
          <p:cNvPr id="46" name="Image 0" descr="C:\Users\prani\OneDrive\Desktop\fashion-for-everyone\presentation_assets\screenshots\02_ai_stylist_dra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2240280"/>
            <a:ext cx="3959352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317296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31729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COLOR VOTING FLOW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Crowdsourced Color Harmony Arena to AI Stylist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between community-driven palette validation and the personalized AI Stylist recommendation engine.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94360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594360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COLOR ARENA ➔ AI STYLIST PIPELINE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40280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313432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3134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295144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Opens Color Voting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community color combination arena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657600" y="267919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" y="2807208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15568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15568" y="28803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508760" y="2862072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Occasion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Work, Casual, Gala, Date Night, Resort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324612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" y="3374136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3447288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15568" y="34472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508760" y="34290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Palette Harmonies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3-color hex combinations &amp; trending score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0" y="3813048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" y="3941064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15568" y="4014216"/>
            <a:ext cx="329184" cy="329184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5568" y="401421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08760" y="3995928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 Interactive Vote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1-to-5 star vote rating or upvote/downvote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0" y="4379976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05840" y="4507992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15568" y="4581144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15568" y="458114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508760" y="4562856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Socket Sync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broadcasts updated average to community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57600" y="494690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005840" y="5074920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15568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15568" y="51480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508760" y="5129784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Winning Palette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favored color combination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0" y="5513832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59E0B"/>
                </a:solidFill>
              </a:rPr>
              <a:t>↓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05840" y="5641848"/>
            <a:ext cx="5394960" cy="475488"/>
          </a:xfrm>
          <a:prstGeom prst="roundRect">
            <a:avLst>
              <a:gd name="adj" fmla="val 26923"/>
            </a:avLst>
          </a:prstGeom>
          <a:solidFill>
            <a:srgbClr val="131C31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115568" y="5715000"/>
            <a:ext cx="329184" cy="329184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15568" y="57150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508760" y="5696712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Transition to AI Stylist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exact hex palette &amp; occasion to Stylist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9440" y="1737360"/>
            <a:ext cx="4507992" cy="4572000"/>
          </a:xfrm>
          <a:prstGeom prst="roundRect">
            <a:avLst>
              <a:gd name="adj" fmla="val 3043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949440" y="1737360"/>
            <a:ext cx="450799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19202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COLOR VOTING ARENA</a:t>
            </a:r>
            <a:endParaRPr lang="en-US" sz="1000" dirty="0"/>
          </a:p>
        </p:txBody>
      </p:sp>
      <p:pic>
        <p:nvPicPr>
          <p:cNvPr id="46" name="Image 0" descr="C:\Users\prani\OneDrive\Desktop\fashion-for-everyone\presentation_assets\screenshots\03_color_vot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2240280"/>
            <a:ext cx="4023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1671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COMMERCE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Search to Purchase: Omnichannel Shopping 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transaction journey: real-time suggestions, detailed garment inspection, store reservations, and multi-gateway checkout.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10725912" cy="1828800"/>
          </a:xfrm>
          <a:prstGeom prst="roundRect">
            <a:avLst>
              <a:gd name="adj" fmla="val 75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10725912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SHOPPING CONVERSION FUNNEL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1556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508760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Input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queries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21408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304288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14016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14016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807208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Suggestions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tags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19856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02736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2464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12464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05656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Card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&amp; rating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18304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01184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10912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10912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04104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Modal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&amp; fit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016752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99632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702552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/ Color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In-stock check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498080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7808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07808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Review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 calculation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613648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796528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06256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906256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299448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&amp; Pay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912096" y="267004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</a:rPr>
              <a:t>➔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0094976" y="2286000"/>
            <a:ext cx="1143000" cy="1051560"/>
          </a:xfrm>
          <a:prstGeom prst="roundRect">
            <a:avLst>
              <a:gd name="adj" fmla="val 12174"/>
            </a:avLst>
          </a:prstGeom>
          <a:solidFill>
            <a:srgbClr val="131C31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04704" y="2647188"/>
            <a:ext cx="329184" cy="32918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04704" y="26471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0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0597896" y="2340864"/>
            <a:ext cx="548640" cy="941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Sync
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commit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31520" y="3749040"/>
            <a:ext cx="5212080" cy="2560320"/>
          </a:xfrm>
          <a:prstGeom prst="roundRect">
            <a:avLst>
              <a:gd name="adj" fmla="val 535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31520" y="3749040"/>
            <a:ext cx="521208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86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E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GARMENT DETAILS &amp; SIZE SELECTION MODAL</a:t>
            </a:r>
            <a:endParaRPr lang="en-US" sz="950" dirty="0"/>
          </a:p>
        </p:txBody>
      </p:sp>
      <p:pic>
        <p:nvPicPr>
          <p:cNvPr id="51" name="Image 0" descr="C:\Users\prani\OneDrive\Desktop\fashion-for-everyone\presentation_assets\screenshots\05b_product_mod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4160520"/>
            <a:ext cx="4846320" cy="2011680"/>
          </a:xfrm>
          <a:prstGeom prst="rect">
            <a:avLst/>
          </a:prstGeom>
        </p:spPr>
      </p:pic>
      <p:sp>
        <p:nvSpPr>
          <p:cNvPr id="52" name="Shape 49"/>
          <p:cNvSpPr/>
          <p:nvPr/>
        </p:nvSpPr>
        <p:spPr>
          <a:xfrm>
            <a:off x="6217920" y="3749040"/>
            <a:ext cx="5239512" cy="2560320"/>
          </a:xfrm>
          <a:prstGeom prst="roundRect">
            <a:avLst>
              <a:gd name="adj" fmla="val 535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217920" y="3749040"/>
            <a:ext cx="5239512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400800" y="3886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AE6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STORE STOCK &amp; PICKUP RESERVATION</a:t>
            </a:r>
            <a:endParaRPr lang="en-US" sz="950" dirty="0"/>
          </a:p>
        </p:txBody>
      </p:sp>
      <p:pic>
        <p:nvPicPr>
          <p:cNvPr id="55" name="Image 1" descr="C:\Users\prani\OneDrive\Desktop\fashion-for-everyone\presentation_assets\screenshots\05_stock_locato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4160520"/>
            <a:ext cx="484632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67004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670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Verified Implementation Technology Stack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Strictly detailing technologies present and running in the repository — no speculative or uninstalled frameworks.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1168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Web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450592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37744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19.2 (Modern Hooks &amp; State)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68680" y="2743200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67004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6.0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68680" y="3035808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96265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8.2 (Fast HMR &amp; Bundler)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68680" y="3328416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25526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 v4 (Modern Styling)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68680" y="3621024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54787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Lucide React &amp; Canvas Confetti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56432" y="182880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56432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93592" y="201168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Application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593592" y="2450592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30752" y="237744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0.86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593592" y="2743200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67004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57 (Cross-Platform SDK)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593592" y="3035808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30752" y="296265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Navigation v7 (Native Tabs/Stack)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593592" y="3328416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30752" y="325526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SecureStore &amp; LinearGradient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593592" y="3621024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30752" y="354787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 Build Config (Android APK/AAB)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81344" y="182880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81344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18504" y="201168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Backend API Engine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18504" y="245059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55664" y="237744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&amp; Express 5.2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18504" y="274320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55664" y="267004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Runtime (tsx engine)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18504" y="303580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55664" y="296265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Socket.io 4.8 (Real-time events)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18504" y="332841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55664" y="325526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Multer 2.3 (File &amp; Avatar Uploads)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18504" y="362102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55664" y="354787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&amp; Cookie-Parser Middleware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906256" y="182880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06256" y="182880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43416" y="201168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&amp; Data Layer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043416" y="245059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80576" y="237744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(Enterprise Relational DB)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9043416" y="2743200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180576" y="267004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ORM 5.22 (Type-safe client)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043416" y="3035808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80576" y="296265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Schema with 14 Data Models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9043416" y="3328416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180576" y="325526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Transactions ($transaction)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043416" y="362102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80576" y="354787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File Cache Fallback Engine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1520" y="406908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31520" y="406908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8680" y="425196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Security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868680" y="4690872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5840" y="461772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Web Tokens (JWT Access/Refresh)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868680" y="4983480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05840" y="491032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 Password Hashing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868680" y="5276088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5840" y="520293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4-Role RBAC (Customer, Designer, Retailer, Admin)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868680" y="5568696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05840" y="549554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Sanitization &amp; RegEx Escaping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868680" y="5861304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5840" y="578815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Limiter &amp; Security HTTP Headers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3456432" y="406908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456432" y="406908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593592" y="425196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&amp; Fashion Algorithms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93592" y="4690872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730752" y="461772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Styling Matcher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3593592" y="4983480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730752" y="491032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Color Harmony Scorer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3593592" y="5276088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30752" y="520293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&amp; Silhouette Filter Engine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3593592" y="5568696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730752" y="549554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Query Matcher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3593592" y="5861304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730752" y="578815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Try-On Job Queue Model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6181344" y="406908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181344" y="406908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318504" y="425196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Deployment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6318504" y="469087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455664" y="461772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(Backend Express API &amp; DB)</a:t>
            </a:r>
            <a:endParaRPr lang="en-US" sz="900" dirty="0"/>
          </a:p>
        </p:txBody>
      </p:sp>
      <p:sp>
        <p:nvSpPr>
          <p:cNvPr id="89" name="Shape 87"/>
          <p:cNvSpPr/>
          <p:nvPr/>
        </p:nvSpPr>
        <p:spPr>
          <a:xfrm>
            <a:off x="6318504" y="4983480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455664" y="491032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(Frontend SPA Hosting)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318504" y="527608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455664" y="520293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EAS (Cloud Android Builds)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318504" y="556869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455664" y="549554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Multi-environment (.env.production)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6318504" y="586130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455664" y="578815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 Reverse Proxy Routing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8906256" y="4069080"/>
            <a:ext cx="2578608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906256" y="4069080"/>
            <a:ext cx="2578608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9043416" y="4251960"/>
            <a:ext cx="23042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 &amp; Verification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043416" y="469087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9180576" y="4617720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End-to-End Test Suite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9043416" y="4983480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180576" y="4910328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DB Integration Tests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9043416" y="5276088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180576" y="5202936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Full E2E (`test_admin_*_e2e.ts`)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9043416" y="5568696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9180576" y="5495544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API Automated Verification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9043416" y="586130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9180576" y="5788152"/>
            <a:ext cx="2167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Oxlint TypeScript Code Quality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1671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EXPERIENCE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Android Mobile Application Architecture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React Native 0.86 &amp; Expo 57: high-performance native touch navigation, biometric styling, and ready-to-deploy APK configurations.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5669280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566928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9202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57 &amp; REACT NATIVE MOBILE CAPABILITIES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05840" y="2286000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28600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HomeScreen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22402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hero collections, trending garments, and instant occasion category shortcuts.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2852928"/>
            <a:ext cx="1225296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2852928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ExploreScreen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468880" y="280720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product search with price filtering, brand filtering, and real-time query match.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5840" y="3419856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41985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AiStylistScreen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68880" y="337413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AI consultation with interactive occasion chips, color harmony scores, and outfit cards.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" y="3986784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86784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ColorVotingScreen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468880" y="394106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color combination voting with direct navigation parameter passing to AiStylist.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005840" y="4553712"/>
            <a:ext cx="1664208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553712"/>
            <a:ext cx="16642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ProductDetailScreen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468880" y="450799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Full-bleed imagery, size selection chips, color picker, and store reservation buttons.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20640"/>
            <a:ext cx="224942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5120640"/>
            <a:ext cx="22494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CartScreen &amp; CheckoutScreen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468880" y="50749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item counter, delivery address entry, and payment intent order creation.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05840" y="5687568"/>
            <a:ext cx="2029968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5687568"/>
            <a:ext cx="20299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ProfileScreen &amp; Settings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468880" y="564184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undertone settings, measurements, theme toggle, and secure credential editing.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675120" y="1737360"/>
            <a:ext cx="4782312" cy="4572000"/>
          </a:xfrm>
          <a:prstGeom prst="roundRect">
            <a:avLst>
              <a:gd name="adj" fmla="val 3000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1737360"/>
            <a:ext cx="4782312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19202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MOBILE APPLICATION INTERFACES</a:t>
            </a:r>
            <a:endParaRPr lang="en-US" sz="1000" dirty="0"/>
          </a:p>
        </p:txBody>
      </p:sp>
      <p:pic>
        <p:nvPicPr>
          <p:cNvPr id="33" name="Image 0" descr="C:\Users\prani\OneDrive\Desktop\fashion-for-everyone\presentation_assets\screenshots\13_mobile_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2240280"/>
            <a:ext cx="2011680" cy="3840480"/>
          </a:xfrm>
          <a:prstGeom prst="rect">
            <a:avLst/>
          </a:prstGeom>
        </p:spPr>
      </p:pic>
      <p:pic>
        <p:nvPicPr>
          <p:cNvPr id="34" name="Image 1" descr="C:\Users\prani\OneDrive\Desktop\fashion-for-everyone\presentation_assets\screenshots\14_mobile_ai_stylis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144000" y="2240280"/>
            <a:ext cx="20116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569464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569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Implemented Security, Privacy &amp; Reliability Controls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defense-in-depth measures confirmed in the backend codebase (`backend/security.ts` and `backend/middleware/auth.ts`).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116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Authentication &amp; Session Integrity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47802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423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tokens with configurable expiry (15m access / 7d refresh)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14400" y="291693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86207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Bcryptjs salted password hashing preventing plaintext compromise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914400" y="335584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30098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cookie storage and Authorization Bearer header support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70832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70832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53712" y="20116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4-Tier Role-Based Access Control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53712" y="2478024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90872" y="2423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middleware guards (`authenticateRole`, `requireRole`, `requireAuth`)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53712" y="2916936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90872" y="286207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role permissions for Customer, Designer, Retailer, and Admin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53712" y="3355848"/>
            <a:ext cx="73152" cy="73152"/>
          </a:xfrm>
          <a:prstGeom prst="ellipse">
            <a:avLst/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90872" y="330098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administrative endpoints restricted to verified staff tokens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10144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10144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93024" y="201168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55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Sanitization &amp; Anti-XSS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93024" y="2478024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30184" y="2423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`sanitizeString` recursively stripping `&lt;script&gt;` tags &amp; handler attributes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8193024" y="2916936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30184" y="286207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Null-byte removal preventing binary injection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193024" y="3355848"/>
            <a:ext cx="73152" cy="73152"/>
          </a:xfrm>
          <a:prstGeom prst="ellipse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30184" y="330098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JSON-level sanitization safeguarding against malicious input payloads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31520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42519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Path Traversal &amp; Injection Defense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914400" y="4718304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1560" y="4663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`validateSafePath` enforcing path boundary containment for uploads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14400" y="5157216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51560" y="510235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`escapeRegex` escaping user search strings against ReDoS attacks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914400" y="5596128"/>
            <a:ext cx="73152" cy="73152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1560" y="554126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parameterized SQL queries preventing SQL Injection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70832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70832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53712" y="42519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HTTP Security Headers &amp; Rate Limiting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53712" y="471830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90872" y="4663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defense headers: X-Content-Type-Options (nosniff), X-Frame-Options (DENY)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53712" y="5157216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90872" y="510235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Referrer-Policy: strict-origin-when-cross-origin to protect user data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553712" y="5596128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90872" y="554126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window rate limiter preventing denial-of-service spam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8010144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10144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193024" y="425196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Reliability &amp; ACID Transactions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193024" y="471830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30184" y="46634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Prisma transactions (`$transaction`) for store stock &amp; orders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193024" y="515721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30184" y="5102352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in-memory / JSON fallback when database connectivity drops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193024" y="559612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330184" y="5541264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database seeding and migration scripts for quick disaster recovery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2368296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2368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STATUS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Implementation &amp; Automated Verification Status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test results and functional delivery confirmed by automated TypeScript test suites and active builds.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96596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9659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100% OPERATIONAL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194560" y="19385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Application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2402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Vite application running live on localhost:5173 with complete multi-tab layout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199632" y="182880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36792" y="196596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36792" y="19659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READY FOR BUILD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662672" y="193852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Android App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36792" y="22402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 57 React Native app with tab navigation, custom themes &amp; EAS Android build profile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731520" y="269748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283464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834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FULLY TESTED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194560" y="28072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Unified Authentication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310896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token issuance, bcrypt passwords, refresh token rotation, and 4-tier RBAC middleware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6199632" y="269748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36792" y="283464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283464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ACTIVE &amp; INTERACTIVE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662672" y="280720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Stylist Chat Engine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36792" y="310896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assistant with color harmony scoring, body shape heuristics &amp; SKU recommendations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31520" y="356616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" y="370332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37033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LIVE WITH SOCKETS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194560" y="36758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Color Voting Arena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68680" y="3977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 filtering, interactive 5-star voting, real-time socket events &amp; AI Stylist navigation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199632" y="356616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36792" y="370332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37033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FUNCTIONAL &amp; TESTED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7662672" y="367588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 Showcase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6792" y="3977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showcase, design upload modal with palette hex inputs, and merit rating system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31520" y="443484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68680" y="457200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8680" y="457200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FUNCTIONAL &amp; TESTED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2194560" y="45445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Retailer Dashboard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68680" y="48463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CRUD, live stock adjustments, low-stock threshold alerts, and order status updates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6199632" y="443484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36792" y="457200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36792" y="457200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FUNCTIONAL &amp; TESTED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662672" y="45445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Governance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336792" y="484632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login, executive KPI overview, user management, and retailer/designer approval views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731520" y="530352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8680" y="544068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68680" y="5440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PASSING AGAINST DB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2194560" y="5413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E2E Tests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68680" y="5715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suites (`test_all_e2e.ts`, `test_admin_*_e2e.ts`) verifying DB transactions &amp; guards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6199632" y="5303520"/>
            <a:ext cx="5257800" cy="777240"/>
          </a:xfrm>
          <a:prstGeom prst="roundRect">
            <a:avLst>
              <a:gd name="adj" fmla="val 17647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36792" y="5440680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36792" y="544068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POSTGRESQL LIVE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662672" y="541324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 Layer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6336792" y="571500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client with 14 models, relational constraints, foreign keys, and JSON fallback mode</a:t>
            </a:r>
            <a:endParaRPr lang="en-US" sz="8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865376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86537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Scope &amp; Planned Innovations (Strictly Labeled Future)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High-impact engineering extensions planned for upcoming development phases — clearly separated from current code.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011680"/>
            <a:ext cx="173736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11680"/>
            <a:ext cx="1737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AI EMBEDDINGS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914400" y="230428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Semantic Fashion Search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of vector embeddings (via pgvector or Pinecone) allowing open-ended conceptual queries such as "vintage Parisian café look for rainy weather".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70832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53712" y="2011680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01168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53712" y="230428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 Similarity &amp; Reverse Image Search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53712" y="27889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Allowing customers to upload real-world street style photos and find instant visual matches or affordable dupes from active retailer catalogs using CLIP.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10144" y="182880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10144" y="182880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3024" y="2011680"/>
            <a:ext cx="1956816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93024" y="2011680"/>
            <a:ext cx="19568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NEURAL MODELS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193024" y="230428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Virtual Try-On (VTON)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193024" y="278892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from current schema queue to distributed GPU-powered diffusion models (e.g. IDM-VTON) for photorealistic draping over user selfie uploads.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251960"/>
            <a:ext cx="1225296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251960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RAILS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914400" y="454456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Multi-Gateway Live Payment Onboarding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14400" y="502920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Transitioning from current test intent mock to production Stripe Connect and Razorpay automated merchant payouts and split-tender settlements.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70832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3712" y="4251960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251960"/>
            <a:ext cx="151790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ML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553712" y="454456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 Machine Learning Personalization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53712" y="502920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collaborative filtering models learning from user purchase history, color voting preferences, and fit ratings to personalize the home feed.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010144" y="4069080"/>
            <a:ext cx="3429000" cy="2103120"/>
          </a:xfrm>
          <a:prstGeom prst="roundRect">
            <a:avLst>
              <a:gd name="adj" fmla="val 6522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10144" y="4069080"/>
            <a:ext cx="342900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93024" y="4251960"/>
            <a:ext cx="1371600" cy="219456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193024" y="4251960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MESSAGING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193024" y="4544568"/>
            <a:ext cx="30632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Push Notifications (FCM / APNs)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193024" y="5029200"/>
            <a:ext cx="3063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mobile push notification service alerting shoppers to restocks, price drops, delivery status milestones, and trending color combinations.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0" y="914400"/>
            <a:ext cx="5029200" cy="5029200"/>
          </a:xfrm>
          <a:prstGeom prst="ellipse">
            <a:avLst/>
          </a:prstGeom>
          <a:solidFill>
            <a:srgbClr val="1A1D36">
              <a:alpha val="2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89120" y="548640"/>
            <a:ext cx="3383280" cy="32004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548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&amp; CONCLUSION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371600" y="96012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Fashion for Everyone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AI Intelligence, Community Creativity, and Omnichannel Commerce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194560"/>
            <a:ext cx="9994392" cy="1371600"/>
          </a:xfrm>
          <a:prstGeom prst="roundRect">
            <a:avLst>
              <a:gd name="adj" fmla="val 10000"/>
            </a:avLst>
          </a:prstGeom>
          <a:solidFill>
            <a:srgbClr val="131C31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8016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8016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STYLING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26060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83464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3464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+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8912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669280" y="26060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+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3504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223760" y="26060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+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58952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869680" y="26060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4A3B8"/>
                </a:solidFill>
              </a:rPr>
              <a:t>+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235440" y="2514600"/>
            <a:ext cx="1143000" cy="594360"/>
          </a:xfrm>
          <a:prstGeom prst="roundRect">
            <a:avLst>
              <a:gd name="adj" fmla="val 18462"/>
            </a:avLst>
          </a:prstGeom>
          <a:solidFill>
            <a:srgbClr val="18233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35440" y="2514600"/>
            <a:ext cx="1143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RETAILERS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97280" y="3794760"/>
            <a:ext cx="9994392" cy="2468880"/>
          </a:xfrm>
          <a:prstGeom prst="roundRect">
            <a:avLst>
              <a:gd name="adj" fmla="val 5556"/>
            </a:avLst>
          </a:prstGeom>
          <a:solidFill>
            <a:srgbClr val="131C31"/>
          </a:solidFill>
          <a:ln w="12700">
            <a:solidFill>
              <a:srgbClr val="2533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" y="3794760"/>
            <a:ext cx="9994392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71600" y="407822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00200" y="4023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Democratized Fashion Styling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00200" y="427939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accessible, personalized garment advice tailored to real body shapes, skin undertones, and individual occasions.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217920" y="407822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40233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True Multi-Tenant Synergy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6520" y="427939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unites consumers, independent designers seeking recognition, and brick-and-mortar retailers needing inventory velocity.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1371600" y="503834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600200" y="4983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Production-Grade Architecture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600200" y="523951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React 19, Expo 57, Express 5, PostgreSQL, and Prisma ORM, verified through rigorous end-to-end testing suites.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5038344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46520" y="49834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Omnichannel Velocity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46520" y="5239512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digital discovery directly to physical store stock reservations and reliable home order delivery.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97280" y="6355080"/>
            <a:ext cx="9994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• Questions &amp; Discussion Welcome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2026-09-20T14:14:45Z</dcterms:created>
  <dcterms:modified xsi:type="dcterms:W3CDTF">2026-09-20T14:14:45Z</dcterms:modified>
</cp:coreProperties>
</file>